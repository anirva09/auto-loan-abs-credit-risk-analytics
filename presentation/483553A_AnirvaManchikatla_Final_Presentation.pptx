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C400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Loan ABS Credit Risk &amp; Securitisation Analytics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019556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Code 483553A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9728" cy="566928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1325880"/>
            <a:ext cx="7040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 Loan ABS Credit Risk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Securitisation Analytics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96112" y="2743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monitoring • IFRS 9 ECL • Stress testing • Investor reporting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321040" y="1143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analytics 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58200" y="1600200"/>
            <a:ext cx="2514600" cy="292608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Loan pool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5820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₹317.8M current balance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720072" y="2212848"/>
            <a:ext cx="0" cy="219456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58200" y="2350008"/>
            <a:ext cx="2514600" cy="292608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58200" y="2651760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DPD, ECL, loss, CPR/SMM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720072" y="2962656"/>
            <a:ext cx="0" cy="219456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58200" y="3099816"/>
            <a:ext cx="2514600" cy="292608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Excel reconciliation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720072" y="3712464"/>
            <a:ext cx="0" cy="219456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58200" y="3849624"/>
            <a:ext cx="2514600" cy="292608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4151376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Investor-ready view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" y="3364992"/>
            <a:ext cx="5760720" cy="0"/>
          </a:xfrm>
          <a:prstGeom prst="line">
            <a:avLst/>
          </a:prstGeom>
          <a:noFill/>
          <a:ln w="15240">
            <a:solidFill>
              <a:srgbClr val="C4002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6576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Project Code 483553A  |  Anirva Manchikatla  |  Power BI, Excel, DAX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187952"/>
            <a:ext cx="67208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A BFSI analyst-style presentation built from dashboard logic, metric controls and business recommendations — without using raw dashboard screenshots.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5806440"/>
            <a:ext cx="1042416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971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Executive presentation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takeaway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validated credit-risk surveillance framework for an Auto Loan ABS pool.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1920240" cy="4837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₹317.8M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43100"/>
            <a:ext cx="1920240" cy="25237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Current Balance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85800" y="2216506"/>
            <a:ext cx="1828800" cy="2313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Active portfolio exposure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880360" y="1417320"/>
            <a:ext cx="1417320" cy="4837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80360" y="1943100"/>
            <a:ext cx="1417320" cy="25237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Loan Count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926080" y="2216506"/>
            <a:ext cx="1325880" cy="2313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Pool scale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645152" y="1417320"/>
            <a:ext cx="1417320" cy="4837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1943100"/>
            <a:ext cx="1417320" cy="25237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ECL Rate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90872" y="2216506"/>
            <a:ext cx="1325880" cy="2313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Expected loss intensity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382512" y="1417320"/>
            <a:ext cx="1417320" cy="4837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82512" y="1943100"/>
            <a:ext cx="1417320" cy="25237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90+ DPD Rate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428232" y="2216506"/>
            <a:ext cx="1325880" cy="2313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Severe arrears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138160" y="1417320"/>
            <a:ext cx="1783080" cy="4837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Adequate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8160" y="1943100"/>
            <a:ext cx="1783080" cy="25237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</a:rPr>
              <a:t>CE Adequacy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183880" y="2216506"/>
            <a:ext cx="1691640" cy="2313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Under 1.5x stress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195560" y="1417320"/>
            <a:ext cx="1325880" cy="4837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95560" y="1943100"/>
            <a:ext cx="1325880" cy="25237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WA CIBIL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0241280" y="2216506"/>
            <a:ext cx="1234440" cy="2313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Borrower quality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68580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Main conclusion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127248"/>
            <a:ext cx="6492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The portfolio shows measurable credit risk but remains interpretable and controllable through a structured ABS surveillance workflow: exposure → delinquency → ECL → realised loss → prepayment → stress → investor reporting.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2011680" cy="35433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area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2697480" y="4160520"/>
            <a:ext cx="4572000" cy="35433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dashboard answers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269480" y="4160520"/>
            <a:ext cx="4023360" cy="35433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implication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5800" y="4514850"/>
            <a:ext cx="2011680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health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697480" y="4514850"/>
            <a:ext cx="4572000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exposure remains and how concentrated is it?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269480" y="4514850"/>
            <a:ext cx="4023360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has amortised; composition still requires monitoring.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85800" y="4869180"/>
            <a:ext cx="2011680" cy="35433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deterioration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2697480" y="4869180"/>
            <a:ext cx="4572000" cy="35433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30+, 60+ and 90+ DPD balances building?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269480" y="4869180"/>
            <a:ext cx="4023360" cy="35433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30+ DPD is the early-warning layer; 90+ DPD drives severity.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85800" y="5223510"/>
            <a:ext cx="2011680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protection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97480" y="5223510"/>
            <a:ext cx="4572000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credit enhancement cover stressed ECL?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7269480" y="5223510"/>
            <a:ext cx="4023360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Adequate under stated assumptions; not a guarantee.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problem: securitised pools need ongoing surveillance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is valuable only if it converts changing pool behaviour into controlled risk decisions.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298448"/>
            <a:ext cx="347472" cy="347472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</a:rPr>
              <a:t>Is the pool still amortising as expected?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276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04040"/>
                </a:solidFill>
              </a:rPr>
              <a:t>Track BOP/EOP balance, pool factor, scheduled amortisation and prepayments.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47472" cy="347472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04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</a:rPr>
              <a:t>Where is credit deterioration building?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7523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04040"/>
                </a:solidFill>
              </a:rPr>
              <a:t>Monitor 30+, 60+ and 90+ DPD balances and overdue amounts.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85800" y="3547872"/>
            <a:ext cx="347472" cy="347472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5295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</a:rPr>
              <a:t>Is expected loss proportionate to risk?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8770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04040"/>
                </a:solidFill>
              </a:rPr>
              <a:t>Link EAD, PD, LGD and stage mix to ECL.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85800" y="4672584"/>
            <a:ext cx="347472" cy="347472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654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</a:rPr>
              <a:t>Is investor protection still adequate?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001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04040"/>
                </a:solidFill>
              </a:rPr>
              <a:t>Compare stressed ECL with credit enhancement and covenant triggers.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583680" y="1280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Why this matters in ABS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673352"/>
            <a:ext cx="42519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Investors depend on consistent pool performance reporting.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Credit deterioration can appear before realised losses emerge.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Prepayments change the timing of cash flows and remaining exposure.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Stress testing converts metrics into governance-ready conclusions.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675888"/>
            <a:ext cx="429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83680" y="3931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Presentation objective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Show how the project can be presented as a professional credit-risk monitoring solution rather than a dashboard walkthrough.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works as a controlled data-to-decision pipeline.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417320"/>
            <a:ext cx="1874520" cy="329184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Loan-level master, delinquency snapshots, pool-level monthly loss and vintage reference data.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88920" y="1417320"/>
            <a:ext cx="1874520" cy="329184"/>
          </a:xfrm>
          <a:prstGeom prst="rect">
            <a:avLst/>
          </a:prstGeom>
          <a:solidFill>
            <a:srgbClr val="9B0024"/>
          </a:solidFill>
          <a:ln>
            <a:solidFill>
              <a:srgbClr val="9B002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 logic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DAX measures calculate exposure, weighted risk, ECL, DPD, loss and prepayment measures.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83480" y="1417320"/>
            <a:ext cx="1874520" cy="329184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modules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Power BI presents risk views by executive, composition, DPD, ECL, loss, prepayment and stress areas.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0372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78040" y="1417320"/>
            <a:ext cx="1874520" cy="329184"/>
          </a:xfrm>
          <a:prstGeom prst="rect">
            <a:avLst/>
          </a:prstGeom>
          <a:solidFill>
            <a:srgbClr val="355C7D"/>
          </a:solidFill>
          <a:ln>
            <a:solidFill>
              <a:srgbClr val="355C7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Independent reconciliation checks raw data formulas against dashboard values.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09828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72600" y="1417320"/>
            <a:ext cx="1874520" cy="329184"/>
          </a:xfrm>
          <a:prstGeom prst="rect">
            <a:avLst/>
          </a:prstGeom>
          <a:solidFill>
            <a:srgbClr val="12B8A6"/>
          </a:solidFill>
          <a:ln>
            <a:solidFill>
              <a:srgbClr val="12B8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0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Risk review, investor reporting, stress monitoring and recommended follow-up actions.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Control principle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566160"/>
            <a:ext cx="5669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The dashboard should not be judged only by design. It should be judged by whether its cards, charts and denominators reconcile to a logical data model and a transparent validation layer.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3063240"/>
            <a:ext cx="1417320" cy="438912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point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138160" y="3063240"/>
            <a:ext cx="3246120" cy="438912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avoided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6720840" y="3502152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Grain separation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8138160" y="3502152"/>
            <a:ext cx="32461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joining pool-level monthly loss to loan-level segmentation incorrectly.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6720840" y="3941064"/>
            <a:ext cx="1417320" cy="438912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averages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8138160" y="3941064"/>
            <a:ext cx="3246120" cy="438912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simple average distortion in WAC, WA LTV and WA CIBIL.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720840" y="4379976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DPD denominator control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8138160" y="4379976"/>
            <a:ext cx="32461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Ensures 30+ and 90+ rates use the right snapshot balance.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6720840" y="4818888"/>
            <a:ext cx="1417320" cy="438912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ECL assumptions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8138160" y="4818888"/>
            <a:ext cx="3246120" cy="438912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available PD/LGD estimates from predictive modelling claims.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model: preserve table grain before building visuals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separates loan-level, snapshot-level and pool-level monthly data.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325880"/>
            <a:ext cx="2148840" cy="310896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Loan_Master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1488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Loan-level borrower, collateral, exposure and ECL fields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703320" y="1325880"/>
            <a:ext cx="2148840" cy="310896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DPD_History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1737360"/>
            <a:ext cx="21488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Monthly loan-level delinquency snapshot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492240" y="1325880"/>
            <a:ext cx="2148840" cy="310896"/>
          </a:xfrm>
          <a:prstGeom prst="rect">
            <a:avLst/>
          </a:prstGeom>
          <a:solidFill>
            <a:srgbClr val="355C7D"/>
          </a:solidFill>
          <a:ln>
            <a:solidFill>
              <a:srgbClr val="355C7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Date_Table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21488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Reporting calendar for time slicing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492240" y="3246120"/>
            <a:ext cx="2148840" cy="310896"/>
          </a:xfrm>
          <a:prstGeom prst="rect">
            <a:avLst/>
          </a:prstGeom>
          <a:solidFill>
            <a:srgbClr val="9B0024"/>
          </a:solidFill>
          <a:ln>
            <a:solidFill>
              <a:srgbClr val="9B002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Monthly_Loss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21488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Pool-level monthly performance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834640" y="1627632"/>
            <a:ext cx="731520" cy="0"/>
          </a:xfrm>
          <a:prstGeom prst="line">
            <a:avLst/>
          </a:prstGeom>
          <a:noFill/>
          <a:ln w="15240">
            <a:solidFill>
              <a:srgbClr val="40404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99232" y="1353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4040"/>
                </a:solidFill>
              </a:rPr>
              <a:t>1 → *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627632"/>
            <a:ext cx="502920" cy="0"/>
          </a:xfrm>
          <a:prstGeom prst="line">
            <a:avLst/>
          </a:prstGeom>
          <a:noFill/>
          <a:ln w="15240">
            <a:solidFill>
              <a:srgbClr val="40404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70448" y="13533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4040"/>
                </a:solidFill>
              </a:rPr>
              <a:t>* →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71232" y="2304288"/>
            <a:ext cx="0" cy="804672"/>
          </a:xfrm>
          <a:prstGeom prst="line">
            <a:avLst/>
          </a:prstGeom>
          <a:noFill/>
          <a:ln w="15240">
            <a:solidFill>
              <a:srgbClr val="40404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08392" y="2651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4040"/>
                </a:solidFill>
              </a:rPr>
              <a:t>1 → *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Disconnected / reference tables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800600"/>
            <a:ext cx="2194560" cy="20574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880360" y="4800600"/>
            <a:ext cx="3383280" cy="20574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85800" y="5006340"/>
            <a:ext cx="2194560" cy="2057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CE_Table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880360" y="5006340"/>
            <a:ext cx="3383280" cy="2057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enhancement comparison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685800" y="5212080"/>
            <a:ext cx="2194560" cy="2057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Scenario_Table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880360" y="5212080"/>
            <a:ext cx="3383280" cy="2057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scenario selection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85800" y="5417820"/>
            <a:ext cx="2194560" cy="2057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Default_Stress_Multiplier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880360" y="5417820"/>
            <a:ext cx="3383280" cy="2057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1.5x stress assumption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85800" y="5623560"/>
            <a:ext cx="2194560" cy="2057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Trigger_Table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880360" y="5623560"/>
            <a:ext cx="3383280" cy="2057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Covenant status checks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85800" y="5829300"/>
            <a:ext cx="2194560" cy="2057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Vintage_Data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880360" y="5829300"/>
            <a:ext cx="3383280" cy="2057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pool/vintage reference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67512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Model note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4828032"/>
            <a:ext cx="4206240" cy="102412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Monthly_Loss remains pool-level. It is intentionally not directly linked to Loan_Master because it does not contain loan-level segmentation fields such as region, vehicle type, employment type or IFRS 9 stage.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architecture: eight modules, one surveillance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pages follow a credit risk review sequence, not a random dashboard menu.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17320"/>
            <a:ext cx="2331720" cy="329184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Exposure &amp; mix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2331720" cy="74980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Executive Risk Overview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Portfolio Composition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27248" y="2084832"/>
            <a:ext cx="292608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417320"/>
            <a:ext cx="2331720" cy="329184"/>
          </a:xfrm>
          <a:prstGeom prst="rect">
            <a:avLst/>
          </a:prstGeom>
          <a:solidFill>
            <a:srgbClr val="9B0024"/>
          </a:solidFill>
          <a:ln>
            <a:solidFill>
              <a:srgbClr val="9B002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Credit deterioration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901952"/>
            <a:ext cx="2331720" cy="74980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DPD &amp; Delinquency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IFRS 9 ECL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70448" y="2084832"/>
            <a:ext cx="292608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417320"/>
            <a:ext cx="2331720" cy="329184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Cash-flow &amp; loss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901952"/>
            <a:ext cx="2331720" cy="74980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Loss &amp; Recovery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Prepayment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13648" y="2084832"/>
            <a:ext cx="292608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417320"/>
            <a:ext cx="2331720" cy="329184"/>
          </a:xfrm>
          <a:prstGeom prst="rect">
            <a:avLst/>
          </a:prstGeom>
          <a:solidFill>
            <a:srgbClr val="12B8A6"/>
          </a:solidFill>
          <a:ln>
            <a:solidFill>
              <a:srgbClr val="12B8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Controls &amp; reporting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1901952"/>
            <a:ext cx="2331720" cy="74980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Stress Testing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Investor 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154680"/>
            <a:ext cx="2240280" cy="2641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017520" y="3154680"/>
            <a:ext cx="4663440" cy="2641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question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680960" y="3154680"/>
            <a:ext cx="3703320" cy="2641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77240" y="3418840"/>
            <a:ext cx="224028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Risk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3017520" y="3418840"/>
            <a:ext cx="466344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overall pool quality acceptable?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7680960" y="3418840"/>
            <a:ext cx="370332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manager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77240" y="3683000"/>
            <a:ext cx="224028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Composition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3017520" y="3683000"/>
            <a:ext cx="466344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exposure concentrated?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680960" y="3683000"/>
            <a:ext cx="370332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monitoring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777240" y="3947160"/>
            <a:ext cx="224028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DPD &amp; Delinquency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017520" y="3947160"/>
            <a:ext cx="466344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arrears risk building?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7680960" y="3947160"/>
            <a:ext cx="370332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/ early warning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777240" y="4211320"/>
            <a:ext cx="224028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IFRS 9 ECL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017520" y="4211320"/>
            <a:ext cx="466344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expected loss burden?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680960" y="4211320"/>
            <a:ext cx="370332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finance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777240" y="4475480"/>
            <a:ext cx="224028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&amp; Recovery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3017520" y="4475480"/>
            <a:ext cx="466344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severe are realised losses?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680960" y="4475480"/>
            <a:ext cx="370332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/ recovery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777240" y="4739640"/>
            <a:ext cx="224028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Prepayment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017520" y="4739640"/>
            <a:ext cx="466344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quickly is the pool running off?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7680960" y="4739640"/>
            <a:ext cx="370332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/ securitisation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777240" y="5003800"/>
            <a:ext cx="224028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Testing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017520" y="5003800"/>
            <a:ext cx="466344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CE cover adverse loss?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7680960" y="5003800"/>
            <a:ext cx="3703320" cy="2641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governance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777240" y="5267960"/>
            <a:ext cx="224028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Report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3017520" y="5267960"/>
            <a:ext cx="466344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monthly reporting view?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7680960" y="5267960"/>
            <a:ext cx="3703320" cy="2641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reporting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health: exposure, amortisation and borrower quality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metrics show the pool scale and risk posture before drilling into delinquency.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98448"/>
            <a:ext cx="1737360" cy="3995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₹546.1M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32788"/>
            <a:ext cx="1737360" cy="2084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Original Balance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" y="1958645"/>
            <a:ext cx="1645920" cy="191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Base pool size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3200" y="1298448"/>
            <a:ext cx="1737360" cy="3995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₹317.8M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1732788"/>
            <a:ext cx="1737360" cy="2084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Current Balance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788920" y="1958645"/>
            <a:ext cx="1645920" cy="191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Outstanding exposure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754880" y="1298448"/>
            <a:ext cx="1508760" cy="3995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732788"/>
            <a:ext cx="1508760" cy="2084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</a:rPr>
              <a:t>Pool Factor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800600" y="1958645"/>
            <a:ext cx="1417320" cy="191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Amortisation view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537960" y="1298448"/>
            <a:ext cx="1508760" cy="3995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1732788"/>
            <a:ext cx="1508760" cy="2084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WAC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0" y="1958645"/>
            <a:ext cx="1417320" cy="191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Weighted coupon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321040" y="1298448"/>
            <a:ext cx="1508760" cy="3995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67.5%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1732788"/>
            <a:ext cx="1508760" cy="2084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WA LTV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366760" y="1958645"/>
            <a:ext cx="1417320" cy="191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Collateral leverage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104120" y="1298448"/>
            <a:ext cx="1325880" cy="3995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04120" y="1732788"/>
            <a:ext cx="1325880" cy="2084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WA CIBIL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0149840" y="1958645"/>
            <a:ext cx="1234440" cy="191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Borrower score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2296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Original vs current balance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17296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Original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1965960" y="3200400"/>
            <a:ext cx="2423160" cy="230429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34840" y="3172968"/>
            <a:ext cx="914400" cy="26334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₹546.1M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372160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Current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1965960" y="3749040"/>
            <a:ext cx="1410145" cy="230429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21825" y="3721608"/>
            <a:ext cx="914400" cy="26334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₹317.8M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Risk interpretation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072384"/>
            <a:ext cx="50292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Pool has amortised meaningfully from original balance.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WA CIBIL of 742 supports a stable borrower-quality narrative.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WA LTV of 67.5% is moderate but still needs recovery monitoring.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Default Rate of 2.1% should be read with 90+ DPD and Stage 3 exposure.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120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Analyst message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544068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Portfolio quality appears interpretable and monitored, but the executive view must be connected to delinquency severity and expected loss before drawing risk conclusions.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Composition lens: concentration matters even when headline metrics look stable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distribution by borrower, vehicle, geography and risk bands drives segmentation risk.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Vehicle make exposure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24693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Volkswagen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057400" y="1652125"/>
            <a:ext cx="3017520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20640" y="1624693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₹42.4M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970859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Honda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057400" y="1998291"/>
            <a:ext cx="2989053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92173" y="1970859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₹42.0M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2317024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Hyundai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057400" y="2344456"/>
            <a:ext cx="2398359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01479" y="2317024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₹33.7M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663190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Toyota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057400" y="2690622"/>
            <a:ext cx="2334308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37428" y="2663190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₹32.8M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009356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MG Motor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057400" y="3036788"/>
            <a:ext cx="2256023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59143" y="3009356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₹31.7M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3355521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Skoda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057400" y="3382953"/>
            <a:ext cx="2127921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31041" y="3355521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₹29.9M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701687"/>
            <a:ext cx="1188720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Mahindra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2057400" y="3729119"/>
            <a:ext cx="2035403" cy="14539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38523" y="3701687"/>
            <a:ext cx="685800" cy="166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₹28.6M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4652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LTV band exposure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691640"/>
            <a:ext cx="594360" cy="1547165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14630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₹85M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446520" y="332475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60-70%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7251192" y="1891861"/>
            <a:ext cx="594360" cy="1346943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59752" y="1663261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₹74M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205472" y="332475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70-80%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010144" y="2128487"/>
            <a:ext cx="594360" cy="111031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918704" y="1899887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₹61M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964424" y="332475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80-90%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8769096" y="2365112"/>
            <a:ext cx="594360" cy="873693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677656" y="21365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₹48M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8723376" y="332475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50-60%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9528048" y="2565333"/>
            <a:ext cx="594360" cy="673472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436608" y="2336733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₹37M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9482328" y="332475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&lt;50%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10287000" y="3020382"/>
            <a:ext cx="594360" cy="218423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195560" y="279178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₹12M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0241280" y="332475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90%+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731520" y="4434840"/>
            <a:ext cx="3291840" cy="30861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question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023360" y="4434840"/>
            <a:ext cx="7040880" cy="30861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31520" y="4743450"/>
            <a:ext cx="3291840" cy="30861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segments carry the most exposure?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4023360" y="4743450"/>
            <a:ext cx="7040880" cy="30861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Concentration can turn a moderate default rate into material portfolio loss.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731520" y="5052060"/>
            <a:ext cx="329184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high LTV and low CIBIL bands visible?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023360" y="5052060"/>
            <a:ext cx="704088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segments need closer loss and recovery monitoring.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731520" y="5360670"/>
            <a:ext cx="3291840" cy="30861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borrower affordability controlled?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023360" y="5360670"/>
            <a:ext cx="7040880" cy="30861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 DTI of 24.0% provides a pool-level affordability indicator.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Delinquency risk: early-warning and severe-risk layers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DPD metrics convert repayment behaviour into escalation signals.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325880"/>
            <a:ext cx="18288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₹37.7M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805940"/>
            <a:ext cx="18288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Amount Overdue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31520" y="2055571"/>
            <a:ext cx="17373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Cash collection pressure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88920" y="1325880"/>
            <a:ext cx="173736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₹225.9M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88920" y="1805940"/>
            <a:ext cx="173736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30+ DPD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34640" y="2055571"/>
            <a:ext cx="164592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4.7% rate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173736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₹165.0M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1805940"/>
            <a:ext cx="173736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60+ DPD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846320" y="2055571"/>
            <a:ext cx="164592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Higher severity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812280" y="1325880"/>
            <a:ext cx="173736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₹96.3M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805940"/>
            <a:ext cx="173736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90+ DPD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858000" y="2055571"/>
            <a:ext cx="164592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2.0% rate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823960" y="1325880"/>
            <a:ext cx="18288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₹4.8B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23960" y="1805940"/>
            <a:ext cx="18288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DPD Balance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869680" y="2055571"/>
            <a:ext cx="17373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Snapshot denominator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2296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Severity ladder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202686"/>
            <a:ext cx="12344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30+ DPD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194560" y="3230118"/>
            <a:ext cx="2468880" cy="211226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9160" y="3202686"/>
            <a:ext cx="914400" cy="24140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₹225.9M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705606"/>
            <a:ext cx="12344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60+ DPD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2194560" y="3733038"/>
            <a:ext cx="1803299" cy="211226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043579" y="3705606"/>
            <a:ext cx="914400" cy="24140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₹165.0M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4208526"/>
            <a:ext cx="12344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404040"/>
                </a:solidFill>
              </a:rPr>
              <a:t>90+ DPD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2194560" y="4235958"/>
            <a:ext cx="1052471" cy="211226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292751" y="4208526"/>
            <a:ext cx="914400" cy="24140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04040"/>
                </a:solidFill>
              </a:rPr>
              <a:t>₹96.3M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Business interpretation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127248"/>
            <a:ext cx="48463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30+ DPD is the first serious early-warning threshold.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60+ and 90+ DPD represent higher collection urgency and credit deterioration.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90+ DPD should reconcile with default and Stage 3 logic.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The overdue amount links arrears status to cash collection pressure.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212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Analyst 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Track 30+ and 90+ DPD monthly, compare movement against prior snapshots, and target collection review where overdue amount and severe DPD overlap.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IFRS 9 ECL: linking credit risk to provisioning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EAD, PD and LGD convert portfolio risk into expected loss and stage-level monitoring.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Expected loss logic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46634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1F1F"/>
                </a:solidFill>
              </a:rPr>
              <a:t>ECL  =  EAD × PD × LGD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89320" y="1389888"/>
            <a:ext cx="15087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₹326.2M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847088"/>
            <a:ext cx="1508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Total EAD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035040" y="2084832"/>
            <a:ext cx="1417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Exposure at default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726680" y="1389888"/>
            <a:ext cx="13258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26680" y="1847088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Avg PD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77240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Default likelihood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9281160" y="1389888"/>
            <a:ext cx="13258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281160" y="1847088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Avg LGD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Loss severity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835640" y="1389888"/>
            <a:ext cx="914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₹11.7M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835640" y="1847088"/>
            <a:ext cx="9144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ECL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881360" y="2084832"/>
            <a:ext cx="8229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Provision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Stage and provision 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142232"/>
            <a:ext cx="1231392" cy="512064"/>
          </a:xfrm>
          <a:prstGeom prst="rect">
            <a:avLst/>
          </a:prstGeom>
          <a:solidFill>
            <a:srgbClr val="355C7D"/>
          </a:solidFill>
          <a:ln w="12700">
            <a:solidFill>
              <a:srgbClr val="355C7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3913632"/>
            <a:ext cx="1414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₹2.8M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22960" y="4727448"/>
            <a:ext cx="1322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Stage 1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2264664" y="4361688"/>
            <a:ext cx="1231392" cy="292608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173224" y="4133088"/>
            <a:ext cx="1414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₹1.6M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2218944" y="4727448"/>
            <a:ext cx="1322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Stage 2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660648" y="3337560"/>
            <a:ext cx="1231392" cy="1316736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69208" y="3108960"/>
            <a:ext cx="1414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₹7.2M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614928" y="4727448"/>
            <a:ext cx="1322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Stage 3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486400" y="3154680"/>
            <a:ext cx="1371600" cy="32004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6858000" y="3154680"/>
            <a:ext cx="1005840" cy="32004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863840" y="3154680"/>
            <a:ext cx="3017520" cy="32004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486400" y="3474720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ECL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6858000" y="3474720"/>
            <a:ext cx="1005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₹11.7M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7863840" y="3474720"/>
            <a:ext cx="30175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 estimate based on expected loss logic.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5486400" y="3794760"/>
            <a:ext cx="13716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ECL Rate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858000" y="3794760"/>
            <a:ext cx="10058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7863840" y="3794760"/>
            <a:ext cx="301752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Normalised expected loss intensity.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486400" y="4114800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Exposure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6858000" y="4114800"/>
            <a:ext cx="1005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₹17.7M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7863840" y="4114800"/>
            <a:ext cx="30175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Credit-impaired exposure to monitor closely.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5486400" y="4434840"/>
            <a:ext cx="13716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LGD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858000" y="4434840"/>
            <a:ext cx="10058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50.3%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7863840" y="4434840"/>
            <a:ext cx="301752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severity remains a key driver.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5486400" y="5074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Analyst message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5394960"/>
            <a:ext cx="5303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ECL makes the dashboard financially meaningful: it connects portfolio exposure and risk parameters to provisioning pressure rather than only visualising balances.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Realised loss and recovery: separating gross loss from net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execution determines how much of default loss becomes actual net loss.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98448"/>
            <a:ext cx="18288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₹12.2M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78508"/>
            <a:ext cx="18288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Gross Loss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" y="2028139"/>
            <a:ext cx="17373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Before recoveries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834640" y="1298448"/>
            <a:ext cx="18288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₹4.4M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1778508"/>
            <a:ext cx="18288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</a:rPr>
              <a:t>Recoveries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80360" y="2028139"/>
            <a:ext cx="17373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Loss offset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18288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₹7.8M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778508"/>
            <a:ext cx="18288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Net Loss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983480" y="2028139"/>
            <a:ext cx="17373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Realised impact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040880" y="1298448"/>
            <a:ext cx="18288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63.7%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1778508"/>
            <a:ext cx="18288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Recovery Rate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86600" y="2028139"/>
            <a:ext cx="17373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Dashboard logic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144000" y="1298448"/>
            <a:ext cx="1371600" cy="441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1778508"/>
            <a:ext cx="137160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Defaulted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189720" y="2028139"/>
            <a:ext cx="1280160" cy="2112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Loans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Loss bridge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383280"/>
            <a:ext cx="1234440" cy="1371600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3127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</a:rPr>
              <a:t>₹12.2M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864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Gross Loss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06040" y="4260205"/>
            <a:ext cx="1234440" cy="494675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468880" y="4004173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</a:rPr>
              <a:t>-₹4.4M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4864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Recoveries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3877955"/>
            <a:ext cx="1234440" cy="876925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51960" y="3621923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</a:rPr>
              <a:t>₹7.8M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4864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Net Loss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65960" y="4069080"/>
            <a:ext cx="41148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749040" y="4069080"/>
            <a:ext cx="41148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80760" y="2907792"/>
            <a:ext cx="2286000" cy="5029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366760" y="2907792"/>
            <a:ext cx="2606040" cy="5029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implication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6080760" y="3410712"/>
            <a:ext cx="22860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loss is higher than net loss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366760" y="3410712"/>
            <a:ext cx="26060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Recoveries materially reduce credit impact.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080760" y="3913632"/>
            <a:ext cx="2286000" cy="5029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Rate must be consistently defined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8366760" y="3913632"/>
            <a:ext cx="2606040" cy="5029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vary; Excel validation should match the dashboard measure.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080760" y="4416552"/>
            <a:ext cx="22860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Defaulted loan count is low but not sufficient alone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8366760" y="4416552"/>
            <a:ext cx="26060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size and segment concentration matter.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Prepayment behaviour: measuring pool run-off and cash-flow timing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CPR and SMM translate repayment behaviour into investor-relevant speed metrics.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98448"/>
            <a:ext cx="17373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₹1.1M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Total Prepayment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Unscheduled principal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88920" y="1298448"/>
            <a:ext cx="15087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88920" y="1755648"/>
            <a:ext cx="1508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Prepayment Rate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3464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Monthly intensity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526280" y="1298448"/>
            <a:ext cx="15087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1755648"/>
            <a:ext cx="1508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Average CPR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57200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Annualised speed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263640" y="1298448"/>
            <a:ext cx="15087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1755648"/>
            <a:ext cx="1508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5C7D"/>
                </a:solidFill>
              </a:rPr>
              <a:t>Average SMM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30936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Monthly speed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001000" y="1298448"/>
            <a:ext cx="17373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₹470.1M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0100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Latest Balance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04672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Pool balance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Cash-flow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1844040" cy="329184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Borrower pays early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703320"/>
            <a:ext cx="1752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Unscheduled principal reduces outstanding balance.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04160" y="34107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78480" y="3246120"/>
            <a:ext cx="1844040" cy="329184"/>
          </a:xfrm>
          <a:prstGeom prst="rect">
            <a:avLst/>
          </a:prstGeom>
          <a:solidFill>
            <a:srgbClr val="9B0024"/>
          </a:solidFill>
          <a:ln>
            <a:solidFill>
              <a:srgbClr val="9B002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Pool runs off faster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24200" y="3703320"/>
            <a:ext cx="1752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EOP balance and pool factor change.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68240" y="34107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42560" y="3246120"/>
            <a:ext cx="1844040" cy="329184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Investor timing changes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8280" y="3703320"/>
            <a:ext cx="1752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Yield and duration expectations may shift.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Operating interpretation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3246120"/>
            <a:ext cx="32918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• Low monthly prepayment is not automatically good or bad; it affects timing.
</a:t>
            </a:r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• CPR provides the investor-facing annualised lens.
</a:t>
            </a:r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• SMM is useful for month-on-month operational tracking.
</a:t>
            </a:r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• Prepayment should be reviewed alongside scheduled amortisation.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4800600"/>
            <a:ext cx="2194560" cy="2743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108960" y="4800600"/>
            <a:ext cx="8092440" cy="2743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 ABS review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21945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CPR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3108960" y="5074920"/>
            <a:ext cx="80924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Annualised speed used in investor and cash-flow interpretation.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914400" y="5349240"/>
            <a:ext cx="2194560" cy="2743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SMM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3108960" y="5349240"/>
            <a:ext cx="8092440" cy="2743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speed used to observe immediate behaviour.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914400" y="5623560"/>
            <a:ext cx="21945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Pool Balance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108960" y="5623560"/>
            <a:ext cx="80924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denominator and links prepayment to remaining exposure.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testing: credit enhancement remains adequate under stated assumptions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stress view tests resilience; it does not predict the future.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98448"/>
            <a:ext cx="17373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₹11.66M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Base ECL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Starting point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3200" y="1298448"/>
            <a:ext cx="17373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₹17.49M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Stressed ECL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78892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1.5x stress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754880" y="1298448"/>
            <a:ext cx="17373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₹5.83M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ECL Increase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8006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Incremental loss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766560" y="1298448"/>
            <a:ext cx="14630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Increase %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81228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Scenario severity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503920" y="1298448"/>
            <a:ext cx="2011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Adequate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1755648"/>
            <a:ext cx="20116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</a:rPr>
              <a:t>CE Status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54964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Under assumptions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Stress vs protection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004122"/>
            <a:ext cx="1261872" cy="604454"/>
          </a:xfrm>
          <a:prstGeom prst="rect">
            <a:avLst/>
          </a:prstGeom>
          <a:solidFill>
            <a:srgbClr val="355C7D"/>
          </a:solidFill>
          <a:ln w="12700">
            <a:solidFill>
              <a:srgbClr val="355C7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377552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₹11.7M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68680" y="46817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Base ECL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340864" y="3701894"/>
            <a:ext cx="1261872" cy="906682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49424" y="347329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₹17.5M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295144" y="46817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Stressed ECL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3767328" y="3291840"/>
            <a:ext cx="1261872" cy="1316736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75888" y="30632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4040"/>
                </a:solidFill>
              </a:rPr>
              <a:t>₹25.4M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721608" y="46817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04040"/>
                </a:solidFill>
              </a:rPr>
              <a:t>Credit Enhancement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57607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Conclusion under the scenario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3182112"/>
            <a:ext cx="5212080" cy="987552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 algn="ctr">
              <a:buNone/>
            </a:pPr>
            <a:r>
              <a:rPr lang="en-US" sz="1600" b="1" dirty="0">
                <a:solidFill>
                  <a:srgbClr val="1F1F1F"/>
                </a:solidFill>
              </a:rPr>
              <a:t>Credit enhancement of ₹25.4M is above stressed ECL of ₹17.49M, so the scenario status is adequate. This conclusion depends on the 1.5x stress multiplier and 8% CE assumption.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60720" y="4617720"/>
            <a:ext cx="1828800" cy="28575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589520" y="4617720"/>
            <a:ext cx="1920240" cy="28575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9509760" y="4617720"/>
            <a:ext cx="914400" cy="28575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5760720" y="4903470"/>
            <a:ext cx="1828800" cy="28575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90+ DPD Test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7589520" y="4903470"/>
            <a:ext cx="1920240" cy="28575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5%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9509760" y="4903470"/>
            <a:ext cx="914400" cy="28575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760720" y="5189220"/>
            <a:ext cx="1828800" cy="28575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Adequacy Test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7589520" y="5189220"/>
            <a:ext cx="1920240" cy="28575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Stressed ECL ≤ CE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9509760" y="5189220"/>
            <a:ext cx="914400" cy="28575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5760720" y="5474970"/>
            <a:ext cx="1828800" cy="28575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ECL Rate Test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7589520" y="5474970"/>
            <a:ext cx="1920240" cy="28575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5%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9509760" y="5474970"/>
            <a:ext cx="914400" cy="28575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reporting: summarising pool movement and risk transparency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module converts analysis into a monthly surveillance view.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98448"/>
            <a:ext cx="14630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₹6.2B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BOP Balance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Opening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423160" y="1298448"/>
            <a:ext cx="14630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₹6.0B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EOP Balance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46888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Closing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114800" y="1298448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₹114.3M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Amortisation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160520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Scheduled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897880" y="1298448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₹49.8M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1554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Prepayments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0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Unscheduled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680960" y="1298448"/>
            <a:ext cx="14630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₹7.8M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Net Loss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2668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Credit impact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372600" y="1298448"/>
            <a:ext cx="14630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97.0%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7260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002F"/>
                </a:solidFill>
              </a:rPr>
              <a:t>Pool Factor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41832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Reporting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6868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Monthly movement narrative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246120"/>
            <a:ext cx="1728216" cy="329184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Opening pool balance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42616" y="34107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916936" y="3246120"/>
            <a:ext cx="1728216" cy="329184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Scheduled amortisation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62656" y="370332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Expected principal repayment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90872" y="34107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65192" y="3246120"/>
            <a:ext cx="1728216" cy="329184"/>
          </a:xfrm>
          <a:prstGeom prst="rect">
            <a:avLst/>
          </a:prstGeom>
          <a:solidFill>
            <a:srgbClr val="9B0024"/>
          </a:solidFill>
          <a:ln>
            <a:solidFill>
              <a:srgbClr val="9B002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Prepayments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0912" y="370332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Unscheduled principal return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39128" y="34107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13448" y="3246120"/>
            <a:ext cx="1728216" cy="329184"/>
          </a:xfrm>
          <a:prstGeom prst="rect">
            <a:avLst/>
          </a:prstGeom>
          <a:solidFill>
            <a:srgbClr val="355C7D"/>
          </a:solidFill>
          <a:ln>
            <a:solidFill>
              <a:srgbClr val="355C7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Losses &amp; recoveries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59168" y="370332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Credit performance impact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787384" y="34107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061704" y="3246120"/>
            <a:ext cx="1728216" cy="329184"/>
          </a:xfrm>
          <a:prstGeom prst="rect">
            <a:avLst/>
          </a:prstGeom>
          <a:solidFill>
            <a:srgbClr val="12B8A6"/>
          </a:solidFill>
          <a:ln>
            <a:solidFill>
              <a:srgbClr val="12B8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EOP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07424" y="370332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Closing pool position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4846320"/>
            <a:ext cx="3017520" cy="2743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requirement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3886200" y="4846320"/>
            <a:ext cx="7223760" cy="2743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this project supports it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868680" y="5120640"/>
            <a:ext cx="30175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movement transparency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3886200" y="5120640"/>
            <a:ext cx="72237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BOP, EOP, amortisation, prepayments, losses and recoveries.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868680" y="5394960"/>
            <a:ext cx="3017520" cy="2743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performance reporting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3886200" y="5394960"/>
            <a:ext cx="7223760" cy="2743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loss, net loss and recoveries are shown together.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868680" y="5669280"/>
            <a:ext cx="30175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control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3886200" y="5669280"/>
            <a:ext cx="72237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validation checks reported figures against Monthly_Loss data.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 validation: control layer behind the visuals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checks whether the dashboard numbers are numerically defensible.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17320"/>
            <a:ext cx="2286000" cy="329184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Loan_Master, DPD_History, Monthly_Loss, Vintage_Data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6324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37560" y="1417320"/>
            <a:ext cx="2286000" cy="329184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formulas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SUM, DISTINCTCOUNT, weighted averages, ratios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0" y="1417320"/>
            <a:ext cx="2286000" cy="329184"/>
          </a:xfrm>
          <a:prstGeom prst="rect">
            <a:avLst/>
          </a:prstGeom>
          <a:solidFill>
            <a:srgbClr val="355C7D"/>
          </a:solidFill>
          <a:ln>
            <a:solidFill>
              <a:srgbClr val="355C7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Cards and visual totals from dashboard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75320" y="1581912"/>
            <a:ext cx="256032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49640" y="1417320"/>
            <a:ext cx="2286000" cy="329184"/>
          </a:xfrm>
          <a:prstGeom prst="rect">
            <a:avLst/>
          </a:prstGeom>
          <a:solidFill>
            <a:srgbClr val="12B8A6"/>
          </a:solidFill>
          <a:ln>
            <a:solidFill>
              <a:srgbClr val="12B8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Match 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Page-wise validation and reconciliation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2377440" cy="3657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area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200400" y="3017520"/>
            <a:ext cx="4297680" cy="3657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validated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498080" y="3017520"/>
            <a:ext cx="3749040" cy="3657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value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23774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overview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4297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balance, loans, WAC, WA LTV, ECL rate, CIBIL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7498080" y="3383280"/>
            <a:ext cx="3749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Confirms top-line KPI accuracy.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237744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DPD &amp; delinquency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3200400" y="3749040"/>
            <a:ext cx="429768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30+ DPD, 90+ DPD, overdue amount, DPD denominator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498080" y="3749040"/>
            <a:ext cx="374904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incorrect rate calculation.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23774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IFRS 9 ECL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200400" y="4114800"/>
            <a:ext cx="4297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EAD, ECL, PD, LGD, Stage 3 exposure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7498080" y="4114800"/>
            <a:ext cx="3749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provision to raw fields.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822960" y="4480560"/>
            <a:ext cx="237744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200400" y="4480560"/>
            <a:ext cx="429768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loss, recoveries, net loss, CPR, SMM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498080" y="4480560"/>
            <a:ext cx="374904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Reconciles pool-level monthly data.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822960" y="4846320"/>
            <a:ext cx="23774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testing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3200400" y="4846320"/>
            <a:ext cx="4297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ECL, multiplier, stressed ECL, CE adequacy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498080" y="4846320"/>
            <a:ext cx="3749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assumptions and trigger logic.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business insights and 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should lead to monitoring actions, not only dashboard observations.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325880"/>
            <a:ext cx="2651760" cy="48768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46120" y="1325880"/>
            <a:ext cx="3840480" cy="48768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086600" y="1325880"/>
            <a:ext cx="4480560" cy="48768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94360" y="1813560"/>
            <a:ext cx="265176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factor is 58.2%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246120" y="1813560"/>
            <a:ext cx="384048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has amortised meaningfully from original balance.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086600" y="1813560"/>
            <a:ext cx="448056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remaining concentration as the pool seasons.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94360" y="2301240"/>
            <a:ext cx="2651760" cy="48768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 CIBIL is 742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3246120" y="2301240"/>
            <a:ext cx="3840480" cy="48768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Borrower quality appears stable at portfolio level.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086600" y="2301240"/>
            <a:ext cx="4480560" cy="48768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low-CIBIL bands separately.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265176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30+ DPD rate is 4.7%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246120" y="2788920"/>
            <a:ext cx="384048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warning delinquency is measurable.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086600" y="2788920"/>
            <a:ext cx="448056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30+ and 90+ DPD movement monthly.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94360" y="3276600"/>
            <a:ext cx="2651760" cy="48768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ECL rate is 3.7%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246120" y="3276600"/>
            <a:ext cx="3840480" cy="48768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loss burden is visible and normalised.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7086600" y="3276600"/>
            <a:ext cx="4480560" cy="48768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ECL changes with PD/LGD and stage movement.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594360" y="3764280"/>
            <a:ext cx="265176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status is adequate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3246120" y="3764280"/>
            <a:ext cx="384048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enhancement covers stressed ECL under assumptions.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086600" y="3764280"/>
            <a:ext cx="448056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Re-run stress tests with alternative multipliers.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6858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Priority operating controls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074920"/>
            <a:ext cx="53035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Maintain monthly DPD migration review.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Track high LTV + weak CIBIL intersections.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Validate every report-ready KPI before submission.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Document stress assumptions whenever CE adequacy is shown.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Portfolio message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074920"/>
            <a:ext cx="43891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The strongest portfolio story is not “the dashboard looks good” — it is “the dashboard creates a controlled credit-risk review workflow.”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operating rhythm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dashboard into a repeatable risk surveillance process.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25880"/>
            <a:ext cx="2148840" cy="310896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 risk pack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307592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Review executive, DPD, ECL and loss pages in sequence.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1783080"/>
            <a:ext cx="0" cy="43891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404872"/>
            <a:ext cx="2148840" cy="310896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Collections focus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2386584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Prioritise 30+, 60+ and 90+ DPD segments and overdue value.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83080" y="2862072"/>
            <a:ext cx="0" cy="43891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483864"/>
            <a:ext cx="2148840" cy="310896"/>
          </a:xfrm>
          <a:prstGeom prst="rect">
            <a:avLst/>
          </a:prstGeom>
          <a:solidFill>
            <a:srgbClr val="C4002F"/>
          </a:solidFill>
          <a:ln>
            <a:solidFill>
              <a:srgbClr val="C4002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ECL governance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3465576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Explain ECL movement through EAD, PD, LGD and Stage 3 exposure.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83080" y="3941064"/>
            <a:ext cx="0" cy="43891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562856"/>
            <a:ext cx="2148840" cy="310896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Investor reporting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4544568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Reconcile BOP/EOP movement, losses, recoveries and pool factor.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Next enhancement ideas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5504688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</a:rPr>
              <a:t>Add tranche waterfall, vintage curves, loan-level roll-rate analysis, region/vehicle stress multipliers and automated monthly refresh checks.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Assumptions and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 improves trust in a credit risk analytics project.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325880"/>
            <a:ext cx="2103120" cy="483326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2788920" y="1325880"/>
            <a:ext cx="4206240" cy="483326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 / limitation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995160" y="1325880"/>
            <a:ext cx="4480560" cy="483326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809206"/>
            <a:ext cx="210312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2788920" y="1809206"/>
            <a:ext cx="420624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internship project data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6995160" y="1809206"/>
            <a:ext cx="448056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demonstrate workflow, not live portfolio performance.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85800" y="2292531"/>
            <a:ext cx="210312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Currency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788920" y="2292531"/>
            <a:ext cx="420624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values shown in INR; M = million, B = billion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995160" y="2292531"/>
            <a:ext cx="448056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consistent reading of metrics.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685800" y="2775857"/>
            <a:ext cx="210312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testing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788920" y="2775857"/>
            <a:ext cx="420624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1.5x stress multiplier and 8% CE assumption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6995160" y="2775857"/>
            <a:ext cx="448056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Adequacy conclusion depends on scenario settings.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685800" y="3259183"/>
            <a:ext cx="210312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grain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2788920" y="3259183"/>
            <a:ext cx="420624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Monthly_Loss is pool-level, not loan-level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995160" y="3259183"/>
            <a:ext cx="448056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segmentation of monthly loss by loan attributes.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685800" y="3742509"/>
            <a:ext cx="210312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IFRS 9 inputs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788920" y="3742509"/>
            <a:ext cx="420624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 and LGD are treated as available estimates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995160" y="3742509"/>
            <a:ext cx="4480560" cy="483326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predictive model is claimed.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685800" y="4225834"/>
            <a:ext cx="210312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2788920" y="4225834"/>
            <a:ext cx="420624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 tranche cash-flow waterfall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6995160" y="4225834"/>
            <a:ext cx="4480560" cy="483326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reporting is monitoring-oriented, not full deal modelling.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822960" y="5166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468112"/>
            <a:ext cx="9509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A professional analyst does not overstate the dashboard. The value is in transparent monitoring, reconciled metrics and clear assumptions.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deliverables and how they fit together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file supports a different part of the analytics workflow.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325880"/>
            <a:ext cx="2240280" cy="4267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2926080" y="1325880"/>
            <a:ext cx="4160520" cy="4267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submission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086600" y="1325880"/>
            <a:ext cx="4389120" cy="42672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752600"/>
            <a:ext cx="224028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PBIX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2926080" y="1752600"/>
            <a:ext cx="41605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model and dashboard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086600" y="1752600"/>
            <a:ext cx="4389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actual build, relationships, visuals and measures.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85800" y="2179320"/>
            <a:ext cx="2240280" cy="4267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report PDF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926080" y="2179320"/>
            <a:ext cx="4160520" cy="4267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case-study explanation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086600" y="2179320"/>
            <a:ext cx="4389120" cy="4267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business problem, methods, insights and limitations.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224028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validation workbook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926080" y="2606040"/>
            <a:ext cx="41605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reconciliation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086600" y="2606040"/>
            <a:ext cx="4389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Proves values are controlled and not only visual.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685800" y="3032760"/>
            <a:ext cx="2240280" cy="4267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deck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2926080" y="3032760"/>
            <a:ext cx="4160520" cy="4267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 and project story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7086600" y="3032760"/>
            <a:ext cx="4389120" cy="42672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Communicates the project in interview / review format.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685800" y="3459480"/>
            <a:ext cx="224028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/ GitHub link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926080" y="3459480"/>
            <a:ext cx="41605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and reproducibility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086600" y="3459480"/>
            <a:ext cx="4389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reviewers understand files quickly.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Recommended final submission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4023360" cy="320040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483553A_AnirvaManchikatla_Submission.zip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4434840"/>
            <a:ext cx="45720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MainReport.pdf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Validation.xlsx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PowerBI.pbix or Drive/GitHub link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Presentation.pptx
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• README.txt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professional credit risk analytics project is judged by logic, controls and decisions.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68680" cy="41148"/>
          </a:xfrm>
          <a:prstGeom prst="rect">
            <a:avLst/>
          </a:prstGeom>
          <a:solidFill>
            <a:srgbClr val="C4002F"/>
          </a:solidFill>
          <a:ln w="12700">
            <a:solidFill>
              <a:srgbClr val="C400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325880"/>
            <a:ext cx="98755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</a:rPr>
              <a:t>The project demonstrates an end-to-end Auto Loan ABS monitoring workflow: it starts with portfolio exposure, follows credit deterioration, quantifies expected and realised losses, observes prepayment behaviour, tests credit enhancement adequacy and finishes with investor-style reporting.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670048"/>
            <a:ext cx="98755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063240"/>
            <a:ext cx="3657600" cy="3657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proves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572000" y="3063240"/>
            <a:ext cx="6035040" cy="365760"/>
          </a:xfrm>
          <a:prstGeom prst="rect">
            <a:avLst/>
          </a:prstGeom>
          <a:solidFill>
            <a:srgbClr val="9B0024"/>
          </a:solidFill>
          <a:ln w="5080">
            <a:solidFill>
              <a:srgbClr val="FFFFFF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is shown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3657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understanding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4572000" y="3429000"/>
            <a:ext cx="6035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are connected to securitisation risk questions.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365760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implementation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572000" y="3794760"/>
            <a:ext cx="603504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BI, DAX and model design are used to structure the dashboard.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control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572000" y="4160520"/>
            <a:ext cx="6035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validation reconciles key values and measure logic.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communication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572000" y="4526280"/>
            <a:ext cx="6035040" cy="36576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indent="0" marL="0" algn="ctr">
              <a:buNone/>
            </a:pPr>
            <a:r>
              <a:rPr lang="en-US" sz="68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and recommendations are framed for risk users, not only dashboard viewers.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002F"/>
                </a:solidFill>
              </a:rPr>
              <a:t>Final positioning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5376672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A validated Auto Loan ABS credit-risk surveillance framework built for portfolio monitoring, stress review and investor reporting.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Loan ABS Credit Risk &amp; Securitisation Analytics Dashboard</dc:title>
  <dc:subject>Auto Loan ABS Credit Risk Analytics</dc:subject>
  <dc:creator>OpenAI</dc:creator>
  <cp:lastModifiedBy>OpenAI</cp:lastModifiedBy>
  <cp:revision>1</cp:revision>
  <dcterms:created xsi:type="dcterms:W3CDTF">2026-06-22T17:29:59Z</dcterms:created>
  <dcterms:modified xsi:type="dcterms:W3CDTF">2026-06-22T17:29:59Z</dcterms:modified>
</cp:coreProperties>
</file>